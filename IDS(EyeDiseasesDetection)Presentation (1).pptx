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sldSz cx="12192000" cy="6858000"/>
  <p:notesSz cx="6858000" cy="9144000"/>
  <p:defaultTextStyle>
    <a:defPPr>
      <a:defRPr lang="en-PK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65" d="100"/>
          <a:sy n="65" d="100"/>
        </p:scale>
        <p:origin x="6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DC933C-7B1B-4DF9-BA2C-6B61087D4FF2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K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K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7532117-EF5B-4ABD-9D0A-69D1DF333781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1468257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F8EBC4-24A1-7472-0D77-E784F6AE67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9DF4F97-3A0D-8604-21CC-E0A69FCB14D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EDB004-65C5-3E7A-A364-BDF74E4791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4026F6-ED75-13E5-BCA8-0FC3ECE0E3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325966-C066-5621-8423-A437FB4BAF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687639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531DB-EEE8-048D-842C-4503B0D471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747CF2C-5C24-518A-9623-32E7A76DE9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FB5E7C-C49F-0ECC-940A-EDF1A997C6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6CC1C4-98E5-8269-95A6-E6D70D1C4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901DD00-9874-2F01-D8EA-EC01847431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510013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DDBE11-581B-9FCB-93EF-3D15C02CA7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A5F843-0D4A-C577-34BE-62E4BAC016F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08CD8A9-566C-F943-0054-64069B9307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B1F5CB-D1C2-462F-4F64-00E47EDA3F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B10F6-8C90-8EE2-96FE-655FE52FB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3804891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9C244B-E59B-166E-3C6A-D5A28C43A8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67C1C6-284A-0FE9-0935-BE5B766388D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06886DC-2D92-3BAE-E8DC-9039A647CA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5966E8A-17CC-B9C5-B29B-8AA0BC3DD8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CDAAA4-0F84-DE40-44E4-CE1CBF5F0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C1FB4E1-2B24-5F9F-5EB7-7A84264B9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3892124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79D99E4-AAA0-32BC-20CD-6C7F245333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E02DF2C-CEA8-53C3-5626-B918FD72C2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7842D6A-966B-6B9E-5017-074667B737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6B37038-3169-C10A-8213-FE91ED0B57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13AC803-781D-109F-2AE5-44F29B474E5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711440D-3A11-5F67-D2E6-75094426B0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46C5B6D-2746-8B42-AFBB-11532F15CC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8AD2E58-817B-4CDD-E765-0A6EAA6A88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01137407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2DA93-3F40-903D-CBF2-7514C511E5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393847E-2007-B9E9-0AC3-9EB16FF3A3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DB6F68-5CEA-998B-1714-F58F70B2F9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83006E-5AF3-3960-76B9-5BF7507AEB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6345249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FEE8D1E-C33C-B42F-3052-30D9007BF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72DB03-E293-EB1F-31A4-770C17095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E053510-92DD-276D-0A14-1FE3EE391D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24716410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57A6F9-A3CD-7981-A408-D7932A82175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F29FDD-CBAB-0577-F582-D8C4F3D15EC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68D1F84-DA53-CFA6-E80E-9FA5F038A15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244E63A-CB34-63A0-9BAF-C08307D31D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989BB8-B2AC-73C9-3508-923CAE095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0BC8A-B99F-C096-CF80-9F9CB0D2B9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84788768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435321-AE12-0CF6-A84C-F895770497B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859E738-298B-F718-013A-0532BED36C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K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B9612B2-8432-C528-414D-D8805DD192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41AC2F-9DF3-D5C0-7A5F-EF541D019D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432679F-F12E-635F-2B99-C1D4BE45FC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7DC49E8-DBC1-2417-7780-E5C9BBDF92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4247428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0CB863-1749-61D7-0BF7-D153874200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855DC74-40CD-A435-8875-2A1D093CCD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DC4821B-9629-2B6E-0CDC-7662109F04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E8E33E-257D-F69F-7F29-B3F639C87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05DFC46-134D-6BDC-FCC9-241CA191A8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42551212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F7951C-03C1-5D51-B5B7-6DA90D03E43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184E6C-CB64-66E0-45BA-2BA4E4435E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1E0D7B-7106-3D84-B53B-4B01AEE7D3E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EB8A68-5E24-FC8B-804C-1B1FD073C6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C5FEE97-EA06-A5D4-454E-0A3C166542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2350377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278D3B7-DC94-46E5-5EA4-87ACA557F8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K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6FC730-1AFC-83E1-5834-F827FFC3857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K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DA6954D-6D6F-EC01-A14D-5ABBE51C565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BFE4C73-205F-4FFD-8488-42CFD9413415}" type="datetimeFigureOut">
              <a:rPr lang="en-PK" smtClean="0"/>
              <a:t>01/06/2026</a:t>
            </a:fld>
            <a:endParaRPr lang="en-PK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3BF39C-A716-4B68-2C64-37A91F5881F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K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EA9C64-2E67-18FC-FA98-595862E2084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EBA368-B93A-496A-B244-E655B28488BF}" type="slidenum">
              <a:rPr lang="en-PK" smtClean="0"/>
              <a:t>‹#›</a:t>
            </a:fld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19052246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PK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en/view-image.php?image=177235&amp;picture=human-eye-close-up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0">
              <a:schemeClr val="accent3">
                <a:lumMod val="0"/>
                <a:lumOff val="100000"/>
              </a:schemeClr>
            </a:gs>
            <a:gs pos="35000">
              <a:schemeClr val="accent3">
                <a:lumMod val="0"/>
                <a:lumOff val="100000"/>
              </a:schemeClr>
            </a:gs>
            <a:gs pos="100000">
              <a:schemeClr val="accent3">
                <a:lumMod val="100000"/>
              </a:schemeClr>
            </a:gs>
          </a:gsLst>
          <a:path path="circle">
            <a:fillToRect l="50000" t="-80000" r="50000" b="18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ight Triangle 3">
            <a:extLst>
              <a:ext uri="{FF2B5EF4-FFF2-40B4-BE49-F238E27FC236}">
                <a16:creationId xmlns:a16="http://schemas.microsoft.com/office/drawing/2014/main" id="{B565765C-638C-C3D4-5784-8A754BFB607A}"/>
              </a:ext>
            </a:extLst>
          </p:cNvPr>
          <p:cNvSpPr/>
          <p:nvPr/>
        </p:nvSpPr>
        <p:spPr>
          <a:xfrm rot="10800000">
            <a:off x="6629400" y="-2"/>
            <a:ext cx="5562600" cy="5836921"/>
          </a:xfrm>
          <a:prstGeom prst="rtTriangle">
            <a:avLst/>
          </a:prstGeom>
          <a:solidFill>
            <a:schemeClr val="accent1">
              <a:lumMod val="60000"/>
              <a:lumOff val="40000"/>
            </a:schemeClr>
          </a:solidFill>
          <a:ln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5" name="Right Triangle 4">
            <a:extLst>
              <a:ext uri="{FF2B5EF4-FFF2-40B4-BE49-F238E27FC236}">
                <a16:creationId xmlns:a16="http://schemas.microsoft.com/office/drawing/2014/main" id="{DD0C95E6-38F9-2FA4-C33E-D29B3CDB3BD0}"/>
              </a:ext>
            </a:extLst>
          </p:cNvPr>
          <p:cNvSpPr/>
          <p:nvPr/>
        </p:nvSpPr>
        <p:spPr>
          <a:xfrm rot="10800000">
            <a:off x="7620000" y="-4"/>
            <a:ext cx="4572000" cy="4739643"/>
          </a:xfrm>
          <a:prstGeom prst="rtTriangle">
            <a:avLst/>
          </a:prstGeom>
          <a:solidFill>
            <a:schemeClr val="accent1">
              <a:lumMod val="75000"/>
            </a:schemeClr>
          </a:solidFill>
          <a:ln>
            <a:solidFill>
              <a:schemeClr val="accent1">
                <a:lumMod val="7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6" name="Right Triangle 5">
            <a:extLst>
              <a:ext uri="{FF2B5EF4-FFF2-40B4-BE49-F238E27FC236}">
                <a16:creationId xmlns:a16="http://schemas.microsoft.com/office/drawing/2014/main" id="{30776137-609F-AF53-225B-F5817D928221}"/>
              </a:ext>
            </a:extLst>
          </p:cNvPr>
          <p:cNvSpPr/>
          <p:nvPr/>
        </p:nvSpPr>
        <p:spPr>
          <a:xfrm rot="10800000">
            <a:off x="8686800" y="0"/>
            <a:ext cx="3505200" cy="3749040"/>
          </a:xfrm>
          <a:prstGeom prst="rt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Half Frame 6">
            <a:extLst>
              <a:ext uri="{FF2B5EF4-FFF2-40B4-BE49-F238E27FC236}">
                <a16:creationId xmlns:a16="http://schemas.microsoft.com/office/drawing/2014/main" id="{4BD113B7-EC2F-E421-6114-4D68128C17BB}"/>
              </a:ext>
            </a:extLst>
          </p:cNvPr>
          <p:cNvSpPr/>
          <p:nvPr/>
        </p:nvSpPr>
        <p:spPr>
          <a:xfrm>
            <a:off x="0" y="-5"/>
            <a:ext cx="457200" cy="6858005"/>
          </a:xfrm>
          <a:prstGeom prst="halfFram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8" name="Half Frame 7">
            <a:extLst>
              <a:ext uri="{FF2B5EF4-FFF2-40B4-BE49-F238E27FC236}">
                <a16:creationId xmlns:a16="http://schemas.microsoft.com/office/drawing/2014/main" id="{9091F241-5880-D666-19A9-A1120EBA0111}"/>
              </a:ext>
            </a:extLst>
          </p:cNvPr>
          <p:cNvSpPr/>
          <p:nvPr/>
        </p:nvSpPr>
        <p:spPr>
          <a:xfrm rot="10800000">
            <a:off x="0" y="6400800"/>
            <a:ext cx="12192000" cy="457200"/>
          </a:xfrm>
          <a:prstGeom prst="halfFram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7709D18-A38F-AEF8-C05D-0D451BB932E5}"/>
              </a:ext>
            </a:extLst>
          </p:cNvPr>
          <p:cNvSpPr txBox="1"/>
          <p:nvPr/>
        </p:nvSpPr>
        <p:spPr>
          <a:xfrm>
            <a:off x="761998" y="1106129"/>
            <a:ext cx="55626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ln>
                  <a:solidFill>
                    <a:schemeClr val="tx2">
                      <a:lumMod val="50000"/>
                    </a:schemeClr>
                  </a:solidFill>
                </a:ln>
                <a:gradFill flip="none" rotWithShape="1">
                  <a:gsLst>
                    <a:gs pos="0">
                      <a:schemeClr val="accent1">
                        <a:lumMod val="50000"/>
                        <a:shade val="30000"/>
                        <a:satMod val="115000"/>
                      </a:schemeClr>
                    </a:gs>
                    <a:gs pos="50000">
                      <a:schemeClr val="accent1">
                        <a:lumMod val="50000"/>
                        <a:shade val="67500"/>
                        <a:satMod val="115000"/>
                      </a:schemeClr>
                    </a:gs>
                    <a:gs pos="100000">
                      <a:schemeClr val="accent1">
                        <a:lumMod val="50000"/>
                        <a:shade val="100000"/>
                        <a:satMod val="115000"/>
                      </a:schemeClr>
                    </a:gs>
                  </a:gsLst>
                  <a:lin ang="2700000" scaled="1"/>
                  <a:tileRect/>
                </a:gradFill>
                <a:effectLst>
                  <a:reflection blurRad="6350" stA="60000" endA="900" endPos="58000" dir="5400000" sy="-100000" algn="bl" rotWithShape="0"/>
                </a:effectLst>
                <a:latin typeface="Arial Black" panose="020B0A04020102020204" pitchFamily="34" charset="0"/>
                <a:ea typeface="Microsoft YaHei UI" panose="020B0503020204020204" pitchFamily="34" charset="-122"/>
              </a:rPr>
              <a:t>EYE DISEASE DETECTION USING DEEP LEARNING</a:t>
            </a:r>
            <a:endParaRPr lang="en-PK" sz="2800" dirty="0">
              <a:ln>
                <a:solidFill>
                  <a:schemeClr val="tx2">
                    <a:lumMod val="50000"/>
                  </a:schemeClr>
                </a:solidFill>
              </a:ln>
              <a:gradFill flip="none" rotWithShape="1">
                <a:gsLst>
                  <a:gs pos="0">
                    <a:schemeClr val="accent1">
                      <a:lumMod val="50000"/>
                      <a:shade val="30000"/>
                      <a:satMod val="115000"/>
                    </a:schemeClr>
                  </a:gs>
                  <a:gs pos="50000">
                    <a:schemeClr val="accent1">
                      <a:lumMod val="50000"/>
                      <a:shade val="67500"/>
                      <a:satMod val="115000"/>
                    </a:schemeClr>
                  </a:gs>
                  <a:gs pos="100000">
                    <a:schemeClr val="accent1">
                      <a:lumMod val="50000"/>
                      <a:shade val="100000"/>
                      <a:satMod val="115000"/>
                    </a:schemeClr>
                  </a:gs>
                </a:gsLst>
                <a:lin ang="2700000" scaled="1"/>
                <a:tileRect/>
              </a:gradFill>
              <a:effectLst>
                <a:reflection blurRad="6350" stA="60000" endA="900" endPos="58000" dir="5400000" sy="-100000" algn="bl" rotWithShape="0"/>
              </a:effectLst>
              <a:latin typeface="Arial Black" panose="020B0A04020102020204" pitchFamily="34" charset="0"/>
              <a:ea typeface="Microsoft YaHei UI" panose="020B0503020204020204" pitchFamily="34" charset="-122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9FC7EA57-3FE6-C3E4-5FD1-86EA82DB7E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837473B0-CC2E-450A-ABE3-18F120FF3D39}">
                <a1611:picAttrSrcUrl xmlns:a1611="http://schemas.microsoft.com/office/drawing/2016/11/main" r:id="rId3"/>
              </a:ext>
            </a:extLst>
          </a:blip>
          <a:srcRect b="12682"/>
          <a:stretch>
            <a:fillRect/>
          </a:stretch>
        </p:blipFill>
        <p:spPr>
          <a:xfrm>
            <a:off x="5938684" y="2119301"/>
            <a:ext cx="3121742" cy="2808612"/>
          </a:xfrm>
          <a:prstGeom prst="rect">
            <a:avLst/>
          </a:prstGeom>
          <a:ln>
            <a:solidFill>
              <a:schemeClr val="accent1">
                <a:lumMod val="50000"/>
              </a:schemeClr>
            </a:solidFill>
          </a:ln>
          <a:effectLst>
            <a:softEdge rad="317500"/>
          </a:effectLst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074CBA34-F399-1098-4CC9-34C514D320BA}"/>
              </a:ext>
            </a:extLst>
          </p:cNvPr>
          <p:cNvSpPr txBox="1"/>
          <p:nvPr/>
        </p:nvSpPr>
        <p:spPr>
          <a:xfrm>
            <a:off x="761999" y="3277700"/>
            <a:ext cx="55626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by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Maliha Haroon [BDA-24F-039]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Muqaddas Bibi [BDA-24F-019]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Department 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Software Engineering</a:t>
            </a:r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Program</a:t>
            </a:r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BS Data Science, 4A </a:t>
            </a:r>
          </a:p>
          <a:p>
            <a:endParaRPr lang="en-US" sz="1600" dirty="0"/>
          </a:p>
          <a:p>
            <a:r>
              <a:rPr lang="en-US" b="1" dirty="0">
                <a:solidFill>
                  <a:schemeClr val="accent1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Presented to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Sir Asif Irshad</a:t>
            </a:r>
            <a:endParaRPr lang="en-PK" sz="2000" b="1" dirty="0">
              <a:solidFill>
                <a:schemeClr val="tx2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024640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  <a:tileRect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8A191A49-D6D8-187F-2C6A-1A3863288AFF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BEF1B6C0-DEFE-5285-B377-92F96CFD70DB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443F565-8F97-2833-EBC7-808686BC02CD}"/>
              </a:ext>
            </a:extLst>
          </p:cNvPr>
          <p:cNvSpPr txBox="1"/>
          <p:nvPr/>
        </p:nvSpPr>
        <p:spPr>
          <a:xfrm>
            <a:off x="766917" y="766916"/>
            <a:ext cx="5159592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>
                <a:solidFill>
                  <a:schemeClr val="tx2">
                    <a:lumMod val="50000"/>
                  </a:schemeClr>
                </a:solidFill>
                <a:effectLst>
                  <a:outerShdw blurRad="50800" dist="38100" dir="16200000" rotWithShape="0">
                    <a:prstClr val="black">
                      <a:alpha val="40000"/>
                    </a:prstClr>
                  </a:outerShdw>
                </a:effectLst>
                <a:latin typeface="Arial Black" panose="020B0A04020102020204" pitchFamily="34" charset="0"/>
              </a:rPr>
              <a:t>                      INTRODUCTION</a:t>
            </a:r>
          </a:p>
          <a:p>
            <a:r>
              <a:rPr lang="en-US" b="1" dirty="0"/>
              <a:t> </a:t>
            </a:r>
          </a:p>
          <a:p>
            <a:r>
              <a:rPr lang="en-US" sz="2000" b="1" dirty="0">
                <a:solidFill>
                  <a:schemeClr val="accent1">
                    <a:lumMod val="50000"/>
                  </a:schemeClr>
                </a:solidFill>
              </a:rPr>
              <a:t>Overview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Eye diseases are a major cause of blindness worldwide.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Early diagnosis helps prevent vision loss.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Many regions lack specialized ophthalmologists.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AI can assist in preliminary screening. 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Diseases Detected:</a:t>
            </a:r>
          </a:p>
          <a:p>
            <a:endParaRPr lang="en-US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Cataract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Diabetic Retinopathy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Glaucoma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Normal Eye </a:t>
            </a:r>
          </a:p>
          <a:p>
            <a:endParaRPr lang="en-PK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5F76C79-3742-4B82-EDE9-8C9D3B72370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5430" t="46882" r="58925" b="26882"/>
          <a:stretch>
            <a:fillRect/>
          </a:stretch>
        </p:blipFill>
        <p:spPr>
          <a:xfrm>
            <a:off x="6223820" y="2831690"/>
            <a:ext cx="2005822" cy="153705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EF4D4D2F-2C71-51A6-6F39-E863C708F8D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5108" t="55269" r="59247" b="20475"/>
          <a:stretch>
            <a:fillRect/>
          </a:stretch>
        </p:blipFill>
        <p:spPr>
          <a:xfrm>
            <a:off x="8568813" y="4734232"/>
            <a:ext cx="2003205" cy="1537053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C3C78C9A-3A9A-7458-F34F-D100EF8BEB21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4893" t="29462" r="51398" b="40215"/>
          <a:stretch>
            <a:fillRect/>
          </a:stretch>
        </p:blipFill>
        <p:spPr>
          <a:xfrm>
            <a:off x="8568813" y="2831687"/>
            <a:ext cx="2005822" cy="1537053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5DFB1C31-8620-60D4-8B8E-2A22859A08E5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31237" t="38495" r="57634" b="47742"/>
          <a:stretch>
            <a:fillRect/>
          </a:stretch>
        </p:blipFill>
        <p:spPr>
          <a:xfrm>
            <a:off x="6223821" y="4734233"/>
            <a:ext cx="2003205" cy="1537050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182311B4-6799-CB5A-1A75-C91C2936B454}"/>
              </a:ext>
            </a:extLst>
          </p:cNvPr>
          <p:cNvSpPr txBox="1"/>
          <p:nvPr/>
        </p:nvSpPr>
        <p:spPr>
          <a:xfrm>
            <a:off x="6265492" y="4364900"/>
            <a:ext cx="19615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Cataract 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1D3D70FB-2E4A-F3AE-6269-1D38EE05844F}"/>
              </a:ext>
            </a:extLst>
          </p:cNvPr>
          <p:cNvSpPr txBox="1"/>
          <p:nvPr/>
        </p:nvSpPr>
        <p:spPr>
          <a:xfrm>
            <a:off x="8560630" y="4364900"/>
            <a:ext cx="253918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Diabetic Retinopathy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F67C43C4-DF37-9FEB-4E07-DB4C2B374355}"/>
              </a:ext>
            </a:extLst>
          </p:cNvPr>
          <p:cNvSpPr txBox="1"/>
          <p:nvPr/>
        </p:nvSpPr>
        <p:spPr>
          <a:xfrm>
            <a:off x="6302976" y="6267442"/>
            <a:ext cx="18865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Glaucoma </a:t>
            </a:r>
          </a:p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EBF22E-8237-62D4-85F6-96BD7D26042A}"/>
              </a:ext>
            </a:extLst>
          </p:cNvPr>
          <p:cNvSpPr txBox="1"/>
          <p:nvPr/>
        </p:nvSpPr>
        <p:spPr>
          <a:xfrm>
            <a:off x="8867084" y="6271285"/>
            <a:ext cx="162723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Normal Eye </a:t>
            </a:r>
          </a:p>
          <a:p>
            <a:endParaRPr lang="en-PK" dirty="0"/>
          </a:p>
        </p:txBody>
      </p:sp>
      <p:sp>
        <p:nvSpPr>
          <p:cNvPr id="23" name="Isosceles Triangle 22">
            <a:extLst>
              <a:ext uri="{FF2B5EF4-FFF2-40B4-BE49-F238E27FC236}">
                <a16:creationId xmlns:a16="http://schemas.microsoft.com/office/drawing/2014/main" id="{884D98C4-4BC4-85B4-CFE0-29EB95274FD4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25" name="Isosceles Triangle 24">
            <a:extLst>
              <a:ext uri="{FF2B5EF4-FFF2-40B4-BE49-F238E27FC236}">
                <a16:creationId xmlns:a16="http://schemas.microsoft.com/office/drawing/2014/main" id="{21B35035-EEDA-B46D-D7FB-0F49E68148AE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26" name="Isosceles Triangle 25">
            <a:extLst>
              <a:ext uri="{FF2B5EF4-FFF2-40B4-BE49-F238E27FC236}">
                <a16:creationId xmlns:a16="http://schemas.microsoft.com/office/drawing/2014/main" id="{B1513608-9D1F-397E-101C-206DF6B5F551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</p:spTree>
    <p:extLst>
      <p:ext uri="{BB962C8B-B14F-4D97-AF65-F5344CB8AC3E}">
        <p14:creationId xmlns:p14="http://schemas.microsoft.com/office/powerpoint/2010/main" val="314674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BF250419-3B2B-74F7-4B1F-80D59E18861B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26786016-6897-56E3-A64D-0FB9A107DA00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D3870B5-214D-071B-6227-C14C91A61DF3}"/>
              </a:ext>
            </a:extLst>
          </p:cNvPr>
          <p:cNvSpPr txBox="1"/>
          <p:nvPr/>
        </p:nvSpPr>
        <p:spPr>
          <a:xfrm>
            <a:off x="2126311" y="289679"/>
            <a:ext cx="7917514" cy="627864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PROBLEM STATEMENT</a:t>
            </a:r>
          </a:p>
          <a:p>
            <a:pPr algn="ctr"/>
            <a:endParaRPr lang="en-US" sz="2000" b="1" dirty="0">
              <a:solidFill>
                <a:schemeClr val="tx2">
                  <a:lumMod val="5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Existing Challenges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Manual diagnosis requires experts.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Screening large populations is time-consuming.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Rural areas have limited access to specialists.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Need for a low-cost automated screening system.</a:t>
            </a:r>
          </a:p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PROJECT OBJECTIVE</a:t>
            </a:r>
          </a:p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Goals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Develop an AI-based eye disease classification system.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Detect four eye conditions from retinal images.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Achieve at least 80% accuracy.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Deploy a user-friendly web application. </a:t>
            </a:r>
          </a:p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Target Accuracy: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80–87%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Achieved Accuracy: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87.2%</a:t>
            </a:r>
          </a:p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5" name="Isosceles Triangle 4">
            <a:extLst>
              <a:ext uri="{FF2B5EF4-FFF2-40B4-BE49-F238E27FC236}">
                <a16:creationId xmlns:a16="http://schemas.microsoft.com/office/drawing/2014/main" id="{23D52EFF-3A67-8C6F-3A7C-76415618FB7E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7" name="Isosceles Triangle 6">
            <a:extLst>
              <a:ext uri="{FF2B5EF4-FFF2-40B4-BE49-F238E27FC236}">
                <a16:creationId xmlns:a16="http://schemas.microsoft.com/office/drawing/2014/main" id="{DC03BE69-09AB-31E6-7789-0883831444BC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7ECCEE15-5CDB-D19B-0181-7ED96A7BAB08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C86CA95-1E2D-F982-EE9D-7730F1D2A7BF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7F57682-F807-A762-6BE9-BFAF04E55028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173715F-DC20-3902-271E-43265EB3861C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95599101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A3EE28-552C-B5C1-9764-ED12EE986D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10528891-92FF-5703-72C6-0604AB79447E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58013BF1-0BE2-B38A-0624-CD7EFD90F911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823A8CA-F3BF-1102-8757-A5AA38DD2426}"/>
              </a:ext>
            </a:extLst>
          </p:cNvPr>
          <p:cNvSpPr txBox="1"/>
          <p:nvPr/>
        </p:nvSpPr>
        <p:spPr>
          <a:xfrm>
            <a:off x="1633069" y="733395"/>
            <a:ext cx="7506928" cy="51398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DATASET INFORMATION</a:t>
            </a:r>
          </a:p>
          <a:p>
            <a:r>
              <a:rPr lang="en-US" sz="2000" b="1" dirty="0">
                <a:solidFill>
                  <a:schemeClr val="tx2">
                    <a:lumMod val="50000"/>
                  </a:schemeClr>
                </a:solidFill>
              </a:rPr>
              <a:t>Dataset</a:t>
            </a:r>
            <a:r>
              <a:rPr lang="en-US" dirty="0">
                <a:solidFill>
                  <a:schemeClr val="tx2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Acquisition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Source:</a:t>
            </a:r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Kaggle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Link: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https://www.kaggle.com/datasets/gunavenkatdoddi/eye-diseases-classification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Dataset Details</a:t>
            </a:r>
          </a:p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2,100–4,200 retinal fundus images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High-resolution eye images</a:t>
            </a:r>
          </a:p>
          <a:p>
            <a:r>
              <a:rPr lang="en-US" dirty="0"/>
              <a:t> 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Classes</a:t>
            </a:r>
          </a:p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Cataract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Diabetic Retinopathy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Glaucoma </a:t>
            </a:r>
          </a:p>
          <a:p>
            <a:pPr marL="342900" indent="-342900">
              <a:buFont typeface="+mj-lt"/>
              <a:buAutoNum type="arabicPeriod"/>
            </a:pP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Normal</a:t>
            </a:r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FC5422-1BD5-81ED-551A-00CBE52D3E00}"/>
              </a:ext>
            </a:extLst>
          </p:cNvPr>
          <p:cNvSpPr txBox="1"/>
          <p:nvPr/>
        </p:nvSpPr>
        <p:spPr>
          <a:xfrm>
            <a:off x="2126311" y="289679"/>
            <a:ext cx="79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21E67BA6-C884-FC3F-4B90-DE59FFEA9E85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752F813C-647C-3D37-FFFD-6BD251B68C6D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235D0176-4B18-539C-0BD7-5E7EB778CEF1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E489BBE2-341C-D06A-28A6-BC958EFCE0B0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92E2E92-C0C4-ECAB-2BC4-1A8F864482B9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779361BC-3E47-B308-1F31-7C288157A753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547253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7A3F4B01-66AA-1423-2FD6-75BD9F9E8887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7903A195-4C25-416B-3518-3DC31766AB3E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F021319-EF24-C662-DCE4-E15C50D24F7D}"/>
              </a:ext>
            </a:extLst>
          </p:cNvPr>
          <p:cNvSpPr txBox="1"/>
          <p:nvPr/>
        </p:nvSpPr>
        <p:spPr>
          <a:xfrm>
            <a:off x="737419" y="737419"/>
            <a:ext cx="6287732" cy="48320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SYSTEM WORKFLOW AND DATA PREPROCESSING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Data Preparation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Steps Performed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Dataset indexing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Train-validation split (80%-20%)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Image resizing to 224×224×3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Normalization using </a:t>
            </a:r>
            <a:r>
              <a:rPr lang="en-US" b="1" dirty="0" err="1">
                <a:solidFill>
                  <a:schemeClr val="tx2">
                    <a:lumMod val="50000"/>
                  </a:schemeClr>
                </a:solidFill>
              </a:rPr>
              <a:t>MobileNet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preprocessing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Performance Optimization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Cache()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Prefetch(AUTOTUNE)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These techniques improved GPU utilization and reduced training delays.</a:t>
            </a:r>
          </a:p>
          <a:p>
            <a:endParaRPr lang="en-PK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E27D7DD-F8B5-9F0B-3829-3130409AE745}"/>
              </a:ext>
            </a:extLst>
          </p:cNvPr>
          <p:cNvSpPr txBox="1"/>
          <p:nvPr/>
        </p:nvSpPr>
        <p:spPr>
          <a:xfrm>
            <a:off x="7801897" y="891307"/>
            <a:ext cx="3126658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End-to-End Pipeline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Kaggle Dataset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↓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Data Preprocessing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↓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Data Augmentation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↓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MobileNetV2 Training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↓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Model Saving (.h5)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↓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 err="1">
                <a:solidFill>
                  <a:schemeClr val="tx2">
                    <a:lumMod val="50000"/>
                  </a:schemeClr>
                </a:solidFill>
              </a:rPr>
              <a:t>Gradio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Web Interface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     ↓</a:t>
            </a:r>
            <a:br>
              <a:rPr lang="en-US" b="1" dirty="0">
                <a:solidFill>
                  <a:schemeClr val="tx2">
                    <a:lumMod val="50000"/>
                  </a:schemeClr>
                </a:solidFill>
              </a:rPr>
            </a:b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Disease Prediction</a:t>
            </a:r>
          </a:p>
          <a:p>
            <a:endParaRPr lang="en-PK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D55C5DF-885B-9EE8-105A-7647567EFA7A}"/>
              </a:ext>
            </a:extLst>
          </p:cNvPr>
          <p:cNvSpPr txBox="1"/>
          <p:nvPr/>
        </p:nvSpPr>
        <p:spPr>
          <a:xfrm>
            <a:off x="2126311" y="289679"/>
            <a:ext cx="79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97DD93EA-D7B2-FE05-4EE2-52EF378BEFDE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E0206D7-102A-7ECB-E85E-74135DFF2FE1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C518542A-FC81-B293-B452-16EAFF5A794B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B4FBD7C-3E9D-B055-1972-3BA916AF38E9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F1238076-36F7-C75E-A228-6DBB20FA558F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ADD0FFF9-2541-CF86-7141-463265F40A19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379873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AF88D674-3BDE-AA2D-1CC1-F598F6AEF8C6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0A9A13BB-32A0-4422-2B32-05859FC170EE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D8F556-A6FF-6C3D-87AF-EACB3489DFF4}"/>
              </a:ext>
            </a:extLst>
          </p:cNvPr>
          <p:cNvSpPr txBox="1"/>
          <p:nvPr/>
        </p:nvSpPr>
        <p:spPr>
          <a:xfrm>
            <a:off x="1327354" y="973393"/>
            <a:ext cx="5633884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MODEL ARCHITECTURE</a:t>
            </a:r>
          </a:p>
          <a:p>
            <a:pPr algn="ctr"/>
            <a:endParaRPr lang="en-US" sz="2000" b="1" dirty="0">
              <a:solidFill>
                <a:schemeClr val="tx2">
                  <a:lumMod val="5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MobileNetV2 Transfer Learning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Why MobileNetV2?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Lightweight CNN architecture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Fast training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Low computational cost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Excellent feature extraction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Transfer Learning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Pretrained on ImageNet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Base layers frozen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Custom classifier added</a:t>
            </a:r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AF6E4FD-E351-101E-E29C-D519042D1EC4}"/>
              </a:ext>
            </a:extLst>
          </p:cNvPr>
          <p:cNvSpPr txBox="1"/>
          <p:nvPr/>
        </p:nvSpPr>
        <p:spPr>
          <a:xfrm>
            <a:off x="2126311" y="289679"/>
            <a:ext cx="79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85DD0C1C-4345-30E9-9370-4CED2A83EF7C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2B5D77E-1F47-DBBB-3F73-A267E93D5934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2D7F2EF1-415F-EC07-12B9-7BE55207B277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8E68DBD4-173B-F782-A979-046652BBD0BE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BEF2021D-05CE-06D7-F606-5783B44CDD3D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69AAF1A-6C88-2BE9-008E-F87F9CE9783A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31662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027A816A-899E-C00E-2698-9C1BF6AA5894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233B8005-7F5D-F15B-9CCE-A3F1C00FA3E8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658B86-4806-75BE-43C0-4808A3F51AF4}"/>
              </a:ext>
            </a:extLst>
          </p:cNvPr>
          <p:cNvSpPr txBox="1"/>
          <p:nvPr/>
        </p:nvSpPr>
        <p:spPr>
          <a:xfrm>
            <a:off x="1615440" y="1000393"/>
            <a:ext cx="6400800" cy="458587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MODEL SELECTION COMPARISON</a:t>
            </a:r>
          </a:p>
          <a:p>
            <a:pPr algn="ctr"/>
            <a:endParaRPr lang="en-US" sz="2000" b="1" dirty="0">
              <a:solidFill>
                <a:schemeClr val="tx2">
                  <a:lumMod val="5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YOLO Models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Designed for object detection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Require bounding box annotations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Higher computational complexity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MobileNetV2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Designed for image classification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Works with image-level labels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Faster and more efficient 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Therefore MobileNetV2 was selected.</a:t>
            </a:r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768A50B-DA09-394E-A143-3BE4B1A5EB29}"/>
              </a:ext>
            </a:extLst>
          </p:cNvPr>
          <p:cNvSpPr txBox="1"/>
          <p:nvPr/>
        </p:nvSpPr>
        <p:spPr>
          <a:xfrm>
            <a:off x="2126311" y="289679"/>
            <a:ext cx="79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A05E5DA7-098B-B9D9-52CA-DA12C84EB6C3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8327D60F-6C14-32DE-E912-38A14E2A170D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E945D7DB-FE33-3E50-3566-900A01784DA7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0CCD903E-DA75-B889-2889-101719FBF4E7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6" name="Isosceles Triangle 15">
            <a:extLst>
              <a:ext uri="{FF2B5EF4-FFF2-40B4-BE49-F238E27FC236}">
                <a16:creationId xmlns:a16="http://schemas.microsoft.com/office/drawing/2014/main" id="{E1CDFE91-3F8C-5812-549D-117AE92BBE85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7" name="Isosceles Triangle 16">
            <a:extLst>
              <a:ext uri="{FF2B5EF4-FFF2-40B4-BE49-F238E27FC236}">
                <a16:creationId xmlns:a16="http://schemas.microsoft.com/office/drawing/2014/main" id="{DCA50EE8-F544-BC96-2FD6-B9663AF8AE27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30237310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296EC651-8EBB-7289-03F0-5D573AF9A925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D68F493E-A7D0-253D-215B-0654E6FD3F72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0B7B666-C620-C8FB-5B4F-BECF5C66E82A}"/>
              </a:ext>
            </a:extLst>
          </p:cNvPr>
          <p:cNvSpPr txBox="1"/>
          <p:nvPr/>
        </p:nvSpPr>
        <p:spPr>
          <a:xfrm>
            <a:off x="1691146" y="651290"/>
            <a:ext cx="5220929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TRAINING CONFIGURATION</a:t>
            </a:r>
          </a:p>
          <a:p>
            <a:endParaRPr lang="en-US" b="1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Hyperparameters</a:t>
            </a:r>
          </a:p>
          <a:p>
            <a:endParaRPr lang="en-PK" dirty="0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C7FF3DB-A94C-1CCC-EF98-1699E4F556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13627274"/>
              </p:ext>
            </p:extLst>
          </p:nvPr>
        </p:nvGraphicFramePr>
        <p:xfrm>
          <a:off x="1946547" y="1732629"/>
          <a:ext cx="3847482" cy="3149364"/>
        </p:xfrm>
        <a:graphic>
          <a:graphicData uri="http://schemas.openxmlformats.org/drawingml/2006/table">
            <a:tbl>
              <a:tblPr/>
              <a:tblGrid>
                <a:gridCol w="1508633">
                  <a:extLst>
                    <a:ext uri="{9D8B030D-6E8A-4147-A177-3AD203B41FA5}">
                      <a16:colId xmlns:a16="http://schemas.microsoft.com/office/drawing/2014/main" val="1938153101"/>
                    </a:ext>
                  </a:extLst>
                </a:gridCol>
                <a:gridCol w="2338849">
                  <a:extLst>
                    <a:ext uri="{9D8B030D-6E8A-4147-A177-3AD203B41FA5}">
                      <a16:colId xmlns:a16="http://schemas.microsoft.com/office/drawing/2014/main" val="4258645656"/>
                    </a:ext>
                  </a:extLst>
                </a:gridCol>
              </a:tblGrid>
              <a:tr h="418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Parameter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Value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1113251"/>
                  </a:ext>
                </a:extLst>
              </a:tr>
              <a:tr h="418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Optimizer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Adam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77311947"/>
                  </a:ext>
                </a:extLst>
              </a:tr>
              <a:tr h="418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Learning Rate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0.001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2164808"/>
                  </a:ext>
                </a:extLst>
              </a:tr>
              <a:tr h="418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Loss Function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Categorical Cross Entropy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006093"/>
                  </a:ext>
                </a:extLst>
              </a:tr>
              <a:tr h="418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Batch Size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32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7489213"/>
                  </a:ext>
                </a:extLst>
              </a:tr>
              <a:tr h="418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Epochs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20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38792706"/>
                  </a:ext>
                </a:extLst>
              </a:tr>
              <a:tr h="41821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Dropout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PK" b="1" dirty="0">
                          <a:solidFill>
                            <a:schemeClr val="tx2">
                              <a:lumMod val="50000"/>
                            </a:schemeClr>
                          </a:solidFill>
                        </a:rPr>
                        <a:t>0.2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7948030"/>
                  </a:ext>
                </a:extLst>
              </a:tr>
            </a:tbl>
          </a:graphicData>
        </a:graphic>
      </p:graphicFrame>
      <p:sp>
        <p:nvSpPr>
          <p:cNvPr id="6" name="TextBox 5">
            <a:extLst>
              <a:ext uri="{FF2B5EF4-FFF2-40B4-BE49-F238E27FC236}">
                <a16:creationId xmlns:a16="http://schemas.microsoft.com/office/drawing/2014/main" id="{C5ED9F8D-0A92-61FC-0DE2-83BE30B4F3F3}"/>
              </a:ext>
            </a:extLst>
          </p:cNvPr>
          <p:cNvSpPr txBox="1"/>
          <p:nvPr/>
        </p:nvSpPr>
        <p:spPr>
          <a:xfrm>
            <a:off x="1989077" y="5046196"/>
            <a:ext cx="37657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Regularization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Dropout prevents overfitting.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Improves model generalization. </a:t>
            </a:r>
          </a:p>
          <a:p>
            <a:endParaRPr lang="en-PK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43FE56B1-67BB-2E8C-9CA1-D07ACBC6ADD6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983467F0-E7B1-3DE9-E227-FA908F71676B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5456BEA3-66C5-1F01-8194-1C0FEDADFEEE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5873B103-1F27-F551-7326-08D861CC0A34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3CE4B80D-4B99-9007-0C72-4A403D1E0C98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19C53D62-A271-1A82-0FA1-34A4FAF8A21B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420671581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D0932FED-B3DA-552B-3719-97802EE2262D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E78E6362-D387-37E9-3E90-758E4692D48F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1E259EC-1835-4CDB-8771-E017901645A8}"/>
              </a:ext>
            </a:extLst>
          </p:cNvPr>
          <p:cNvSpPr txBox="1"/>
          <p:nvPr/>
        </p:nvSpPr>
        <p:spPr>
          <a:xfrm>
            <a:off x="1799303" y="1238865"/>
            <a:ext cx="6341807" cy="403187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RESULTS</a:t>
            </a:r>
          </a:p>
          <a:p>
            <a:pPr algn="ctr"/>
            <a:endParaRPr lang="en-US" sz="2000" b="1" dirty="0">
              <a:solidFill>
                <a:schemeClr val="tx2">
                  <a:lumMod val="5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Model Performance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Training Progress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Epochs 1–5: Accuracy increased from ~70% to ~80%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Epochs 10–20: Stable convergence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Validation loss continuously decreased 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Final Result</a:t>
            </a: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Validation Accuracy = 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87.2%</a:t>
            </a:r>
          </a:p>
          <a:p>
            <a:endParaRPr lang="en-US" dirty="0">
              <a:solidFill>
                <a:schemeClr val="tx2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Target successfully achieved.</a:t>
            </a:r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8850B44-2982-49F5-E73C-DDFF8140CF15}"/>
              </a:ext>
            </a:extLst>
          </p:cNvPr>
          <p:cNvSpPr txBox="1"/>
          <p:nvPr/>
        </p:nvSpPr>
        <p:spPr>
          <a:xfrm>
            <a:off x="2126311" y="289679"/>
            <a:ext cx="79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9C6B9573-9238-5C2B-8133-A30120AC0299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C72EF5DC-E3AF-B7F6-34DC-9390AA9EE335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E8D7CD65-1791-43ED-4105-250508EBC293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0665E973-29FA-0708-354A-BF4B24C03C1C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1DFDFE12-A75F-F679-CE94-6AD570033228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D96058EE-1A6B-DD6C-6437-3EE1A3AEFD20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5447042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846B9386-E2A0-3D5A-9D67-95DD8ED20B3D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A434F526-06B0-CA12-06D1-F01E2E7FE650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54D525A-F46D-17F7-0719-25CF5F3A323C}"/>
              </a:ext>
            </a:extLst>
          </p:cNvPr>
          <p:cNvSpPr txBox="1"/>
          <p:nvPr/>
        </p:nvSpPr>
        <p:spPr>
          <a:xfrm>
            <a:off x="1489586" y="997565"/>
            <a:ext cx="8111614" cy="48628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>
                <a:solidFill>
                  <a:schemeClr val="tx2">
                    <a:lumMod val="50000"/>
                  </a:schemeClr>
                </a:solidFill>
                <a:effectLst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CONCLUSION &amp; FUTURE WORK</a:t>
            </a:r>
          </a:p>
          <a:p>
            <a:pPr algn="ctr"/>
            <a:endParaRPr lang="en-US" sz="2000" b="1" dirty="0">
              <a:solidFill>
                <a:schemeClr val="tx2">
                  <a:lumMod val="50000"/>
                </a:schemeClr>
              </a:solidFill>
              <a:effectLst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Conclusion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Successfully developed an eye disease detection system.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Achieved 87.2% validation accuracy.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Deployed through an interactive </a:t>
            </a:r>
            <a:r>
              <a:rPr lang="en-US" b="1" dirty="0" err="1">
                <a:solidFill>
                  <a:schemeClr val="tx2">
                    <a:lumMod val="50000"/>
                  </a:schemeClr>
                </a:solidFill>
              </a:rPr>
              <a:t>Gradio</a:t>
            </a:r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 web interface.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Lightweight and suitable for preliminary diagnosis. </a:t>
            </a:r>
          </a:p>
          <a:p>
            <a:endParaRPr lang="en-US" dirty="0"/>
          </a:p>
          <a:p>
            <a:r>
              <a:rPr lang="en-US" b="1" dirty="0">
                <a:solidFill>
                  <a:schemeClr val="accent1">
                    <a:lumMod val="50000"/>
                  </a:schemeClr>
                </a:solidFill>
              </a:rPr>
              <a:t>Future Scope</a:t>
            </a:r>
          </a:p>
          <a:p>
            <a:endParaRPr lang="en-US" b="1" dirty="0">
              <a:solidFill>
                <a:schemeClr val="accent1">
                  <a:lumMod val="50000"/>
                </a:schemeClr>
              </a:solidFill>
            </a:endParaRP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Larger datasets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Additional eye diseases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Grad-CAM visualization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Fine-tuning MobileNetV2 </a:t>
            </a:r>
          </a:p>
          <a:p>
            <a:r>
              <a:rPr lang="en-US" b="1" dirty="0">
                <a:solidFill>
                  <a:schemeClr val="tx2">
                    <a:lumMod val="50000"/>
                  </a:schemeClr>
                </a:solidFill>
              </a:rPr>
              <a:t>Target accuracy above 90%</a:t>
            </a:r>
          </a:p>
          <a:p>
            <a:endParaRPr lang="en-PK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0EB7300-63DB-E4F9-F071-77C2583757DE}"/>
              </a:ext>
            </a:extLst>
          </p:cNvPr>
          <p:cNvSpPr txBox="1"/>
          <p:nvPr/>
        </p:nvSpPr>
        <p:spPr>
          <a:xfrm>
            <a:off x="2126311" y="289679"/>
            <a:ext cx="79175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b="1" dirty="0">
              <a:solidFill>
                <a:schemeClr val="tx2">
                  <a:lumMod val="50000"/>
                </a:schemeClr>
              </a:solidFill>
            </a:endParaRPr>
          </a:p>
          <a:p>
            <a:endParaRPr lang="en-PK" dirty="0"/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68AA0E0E-6706-79FC-3121-144E51652345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3E65E641-6827-CAA6-C22A-7444335B0A1B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8C1E0858-A905-10AA-8889-C88569AA601F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B14662BC-6754-E2D1-0093-EBD93D55E333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84C7CE69-4AF7-8AEE-5902-D9650D292148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04CF5DBD-3015-C6F5-4A9D-D53889E05A61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78417575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>
          <a:gsLst>
            <a:gs pos="100000">
              <a:schemeClr val="accent3">
                <a:lumMod val="40000"/>
                <a:lumOff val="60000"/>
              </a:schemeClr>
            </a:gs>
            <a:gs pos="46000">
              <a:schemeClr val="accent3">
                <a:lumMod val="95000"/>
                <a:lumOff val="5000"/>
              </a:schemeClr>
            </a:gs>
            <a:gs pos="100000">
              <a:schemeClr val="accent3">
                <a:lumMod val="60000"/>
              </a:schemeClr>
            </a:gs>
          </a:gsLst>
          <a:path path="circle">
            <a:fillToRect l="50000" t="130000" r="50000" b="-3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alf Frame 1">
            <a:extLst>
              <a:ext uri="{FF2B5EF4-FFF2-40B4-BE49-F238E27FC236}">
                <a16:creationId xmlns:a16="http://schemas.microsoft.com/office/drawing/2014/main" id="{7A4B9B11-2CC9-F7D2-0B11-1EFE9BD15F3B}"/>
              </a:ext>
            </a:extLst>
          </p:cNvPr>
          <p:cNvSpPr/>
          <p:nvPr/>
        </p:nvSpPr>
        <p:spPr>
          <a:xfrm>
            <a:off x="0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3" name="Half Frame 2">
            <a:extLst>
              <a:ext uri="{FF2B5EF4-FFF2-40B4-BE49-F238E27FC236}">
                <a16:creationId xmlns:a16="http://schemas.microsoft.com/office/drawing/2014/main" id="{D4990F17-CBCF-A0DD-09BE-FC92E23E9B61}"/>
              </a:ext>
            </a:extLst>
          </p:cNvPr>
          <p:cNvSpPr/>
          <p:nvPr/>
        </p:nvSpPr>
        <p:spPr>
          <a:xfrm rot="10800000">
            <a:off x="11705301" y="0"/>
            <a:ext cx="486697" cy="6858000"/>
          </a:xfrm>
          <a:prstGeom prst="half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>
              <a:solidFill>
                <a:schemeClr val="tx1"/>
              </a:solidFill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9BD6A83-9105-1E61-12AC-402629F8C9BF}"/>
              </a:ext>
            </a:extLst>
          </p:cNvPr>
          <p:cNvSpPr txBox="1"/>
          <p:nvPr/>
        </p:nvSpPr>
        <p:spPr>
          <a:xfrm>
            <a:off x="3502250" y="2782669"/>
            <a:ext cx="43950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600" b="1" dirty="0">
                <a:solidFill>
                  <a:schemeClr val="tx2">
                    <a:lumMod val="50000"/>
                  </a:schemeClr>
                </a:solidFill>
                <a:effectLst>
                  <a:glow rad="63500">
                    <a:schemeClr val="accent1">
                      <a:satMod val="175000"/>
                      <a:alpha val="40000"/>
                    </a:schemeClr>
                  </a:glow>
                  <a:outerShdw blurRad="63500" sx="102000" sy="102000" algn="ctr" rotWithShape="0">
                    <a:prstClr val="black">
                      <a:alpha val="40000"/>
                    </a:prstClr>
                  </a:outerShdw>
                </a:effectLst>
              </a:rPr>
              <a:t>THANK YOU!</a:t>
            </a:r>
            <a:endParaRPr lang="en-PK" sz="3600" b="1" dirty="0">
              <a:solidFill>
                <a:schemeClr val="tx2">
                  <a:lumMod val="50000"/>
                </a:schemeClr>
              </a:solidFill>
              <a:effectLst>
                <a:glow rad="63500">
                  <a:schemeClr val="accent1">
                    <a:satMod val="175000"/>
                    <a:alpha val="40000"/>
                  </a:schemeClr>
                </a:glow>
                <a:outerShdw blurRad="63500" sx="102000" sy="102000" algn="ctr" rotWithShape="0">
                  <a:prstClr val="black">
                    <a:alpha val="40000"/>
                  </a:prstClr>
                </a:outerShdw>
              </a:effectLst>
            </a:endParaRPr>
          </a:p>
        </p:txBody>
      </p:sp>
      <p:sp>
        <p:nvSpPr>
          <p:cNvPr id="8" name="Isosceles Triangle 7">
            <a:extLst>
              <a:ext uri="{FF2B5EF4-FFF2-40B4-BE49-F238E27FC236}">
                <a16:creationId xmlns:a16="http://schemas.microsoft.com/office/drawing/2014/main" id="{CBB9FBA9-8A54-4FE9-3DF6-4A890DA5EAF1}"/>
              </a:ext>
            </a:extLst>
          </p:cNvPr>
          <p:cNvSpPr/>
          <p:nvPr/>
        </p:nvSpPr>
        <p:spPr>
          <a:xfrm rot="10800000">
            <a:off x="9065522" y="0"/>
            <a:ext cx="1529395" cy="146679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9" name="Isosceles Triangle 8">
            <a:extLst>
              <a:ext uri="{FF2B5EF4-FFF2-40B4-BE49-F238E27FC236}">
                <a16:creationId xmlns:a16="http://schemas.microsoft.com/office/drawing/2014/main" id="{E2CD8846-1B74-B8E2-D414-FD31A0AC94EC}"/>
              </a:ext>
            </a:extLst>
          </p:cNvPr>
          <p:cNvSpPr/>
          <p:nvPr/>
        </p:nvSpPr>
        <p:spPr>
          <a:xfrm rot="10800000">
            <a:off x="10662604" y="0"/>
            <a:ext cx="1529396" cy="1466790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5840086A-B521-60D0-E340-FC46E890C5B0}"/>
              </a:ext>
            </a:extLst>
          </p:cNvPr>
          <p:cNvSpPr/>
          <p:nvPr/>
        </p:nvSpPr>
        <p:spPr>
          <a:xfrm>
            <a:off x="9864063" y="182746"/>
            <a:ext cx="1529395" cy="146679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54E77E4F-55AE-53CA-7E17-B78649B90BA9}"/>
              </a:ext>
            </a:extLst>
          </p:cNvPr>
          <p:cNvSpPr/>
          <p:nvPr/>
        </p:nvSpPr>
        <p:spPr>
          <a:xfrm>
            <a:off x="1" y="5791200"/>
            <a:ext cx="1153158" cy="1066800"/>
          </a:xfrm>
          <a:prstGeom prst="triangle">
            <a:avLst/>
          </a:prstGeom>
          <a:solidFill>
            <a:schemeClr val="tx2">
              <a:lumMod val="60000"/>
              <a:lumOff val="4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/>
          </a:p>
        </p:txBody>
      </p:sp>
      <p:sp>
        <p:nvSpPr>
          <p:cNvPr id="12" name="Isosceles Triangle 11">
            <a:extLst>
              <a:ext uri="{FF2B5EF4-FFF2-40B4-BE49-F238E27FC236}">
                <a16:creationId xmlns:a16="http://schemas.microsoft.com/office/drawing/2014/main" id="{0AB92EF0-A1F8-0E5B-626B-EE86EF7BA49E}"/>
              </a:ext>
            </a:extLst>
          </p:cNvPr>
          <p:cNvSpPr/>
          <p:nvPr/>
        </p:nvSpPr>
        <p:spPr>
          <a:xfrm>
            <a:off x="1285238" y="5791198"/>
            <a:ext cx="1153162" cy="1066801"/>
          </a:xfrm>
          <a:prstGeom prst="triangle">
            <a:avLst/>
          </a:prstGeom>
          <a:solidFill>
            <a:schemeClr val="accent1">
              <a:lumMod val="40000"/>
              <a:lumOff val="60000"/>
            </a:schemeClr>
          </a:solidFill>
          <a:ln>
            <a:solidFill>
              <a:schemeClr val="tx2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40E6E742-0E7E-C59C-7431-01FA7AD0C476}"/>
              </a:ext>
            </a:extLst>
          </p:cNvPr>
          <p:cNvSpPr/>
          <p:nvPr/>
        </p:nvSpPr>
        <p:spPr>
          <a:xfrm rot="10800000">
            <a:off x="661306" y="5646361"/>
            <a:ext cx="1153161" cy="1066800"/>
          </a:xfrm>
          <a:prstGeom prst="triangle">
            <a:avLst/>
          </a:prstGeom>
          <a:solidFill>
            <a:schemeClr val="accent1">
              <a:lumMod val="5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K" dirty="0"/>
          </a:p>
        </p:txBody>
      </p:sp>
    </p:spTree>
    <p:extLst>
      <p:ext uri="{BB962C8B-B14F-4D97-AF65-F5344CB8AC3E}">
        <p14:creationId xmlns:p14="http://schemas.microsoft.com/office/powerpoint/2010/main" val="17219770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150</TotalTime>
  <Words>468</Words>
  <Application>Microsoft Office PowerPoint</Application>
  <PresentationFormat>Widescreen</PresentationFormat>
  <Paragraphs>167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Arial</vt:lpstr>
      <vt:lpstr>Arial Black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Muqaddas Bibi</dc:creator>
  <cp:lastModifiedBy>Muqaddas Bibi</cp:lastModifiedBy>
  <cp:revision>3</cp:revision>
  <dcterms:created xsi:type="dcterms:W3CDTF">2026-05-30T07:42:41Z</dcterms:created>
  <dcterms:modified xsi:type="dcterms:W3CDTF">2026-06-01T07:01:53Z</dcterms:modified>
</cp:coreProperties>
</file>